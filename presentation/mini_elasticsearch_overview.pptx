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Arial"/>
              </a:defRPr>
            </a:pPr>
            <a:r>
              <a:t>Mini-Elasticsearch in Rust</a:t>
            </a:r>
          </a:p>
          <a:p>
            <a:pPr>
              <a:spcBef>
                <a:spcPts val="12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Architecture, Design &amp; Deep-Dive Engineering Walkthrough (Phases 1–7)</a:t>
            </a:r>
          </a:p>
          <a:p>
            <a:pPr>
              <a:spcBef>
                <a:spcPts val="2400"/>
              </a:spcBef>
              <a:defRPr sz="1400">
                <a:solidFill>
                  <a:srgbClr val="34D399"/>
                </a:solidFill>
                <a:latin typeface="Arial"/>
              </a:defRPr>
            </a:pPr>
            <a:r>
              <a:t>Inverted Index • BM25 Ranking • Positional Postings • LSM Segments • WAL • mmap • Multi-Index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Arial"/>
              </a:defRPr>
            </a:pPr>
            <a:r>
              <a:t>Executive Architecture Overview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A complete, production-grade distributed search engine model built from scratch in Rust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71216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Phase 1: Inverted Index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Text analyzer with lowercase tokenization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Positional Inverted Index with BTreeMap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Term vocabulary &amp; doc store mapping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828800"/>
            <a:ext cx="2871216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Phase 2: BM25 Scoring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Okapi BM25 relevance ranking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IDF logarithmic scarcity weighting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Term frequency saturation (k1) &amp; length norm (b)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828800"/>
            <a:ext cx="2871216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Phase 3: Async HTTP API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Axum &amp; Tokio async REST server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Endpoints: POST /documents, GET /search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Thread-safe Arc&lt;RwLock&lt;SearchEngine&gt;&gt;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328416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97680"/>
            <a:ext cx="2871216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Phase 4: Advanced Queries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Phrase search: positional adjacency checking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Prefix search: BTreeMap::range lexicographical scan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Fuzzy search: Levenshtein edit distance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4114800"/>
            <a:ext cx="3328416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4297680"/>
            <a:ext cx="2871216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Phase 5 &amp; 6: Persistence &amp; mmap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Custom binary segment format (MNSE v1)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Append-only Write-Ahead Log (WAL)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Memory-Mapped I/O with memmap2 zero-copy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4114800"/>
            <a:ext cx="3328416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4297680"/>
            <a:ext cx="2871216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Phase 7: Polish &amp; CLI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EngineManager with multi-index isolation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Structured logging via tracing &amp; config.toml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Clap CLI: serve, index, search, stats, compact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Arial"/>
              </a:defRPr>
            </a:pPr>
            <a:r>
              <a:t>System Layered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Clean separation of concerns across clients, HTTP transport, query pipeline, and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914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rial"/>
              </a:defRPr>
            </a:pPr>
            <a:r>
              <a:t>1. Client &amp; CLI Interface Layer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HTTP REST Clients (curl / browsers) + Command-line interface via Clap (mini-es serve, search, stats)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728655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26080"/>
            <a:ext cx="102714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2. Async Transport Layer (Axum / Tokio)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Multi-index routing (/indexes/{name}/...), request validation, JSON serialization, and tracing middleware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102714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B923C"/>
                </a:solidFill>
                <a:latin typeface="Arial"/>
              </a:defRPr>
            </a:pPr>
            <a:r>
              <a:t>3. Query &amp; Execution Engine (SearchEngine)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Query syntax parsing (quotes, prefixes, tildes) • Positional validation • BM25 relevance scoring accumulator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728655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94960"/>
            <a:ext cx="102714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rial"/>
              </a:defRPr>
            </a:pPr>
            <a:r>
              <a:t>4. Storage &amp; Persistence Subsystem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Write-Ahead Log (wal.log) • Immutable binary segments (.seg) • Zero-copy mmap reader • LSM Compaction merge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Arial"/>
              </a:defRPr>
            </a:pPr>
            <a:r>
              <a:t>Document Ingestion &amp; Write Path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Step-by-step lifecycle from API request to disk durability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1. Ingestion Request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POST /indexes/{name}/documents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JSON payload parsed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Acquire write lock on SearchEngine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Non-blocking to other index partitions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B923C"/>
                </a:solidFill>
                <a:latin typeface="Arial"/>
              </a:defRPr>
            </a:pPr>
            <a:r>
              <a:t>2. WAL Durability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Write operation to wal.log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Newline-delimited JSON entry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Instant crash protection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Replayed on server recovery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rial"/>
              </a:defRPr>
            </a:pPr>
            <a:r>
              <a:t>3. Positional Indexing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Analyzer tokenizes title &amp; body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0-based continuous positions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BTreeMap postings updated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Doc store &amp; lengths updated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4. Segment Flush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Buffer count checked against threshold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If threshold reached: flush()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SegmentWriter writes binary file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WAL truncated to 0 bytes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Arial"/>
              </a:defRPr>
            </a:pPr>
            <a:r>
              <a:t>Query Parsing &amp; BM25 Relevance Ranking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Multi-modal query execution engine with Okapi BM25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B923C"/>
                </a:solidFill>
                <a:latin typeface="Arial"/>
              </a:defRPr>
            </a:pPr>
            <a:r>
              <a:t>Query Parsing &amp; Dispatch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Phrase Search ("ogre bride"): checks that tokens appear adjacent and in sequential order using positions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Prefix Search (ogr*): expands prefix across BTreeMap::range vocabulary without full scan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Fuzzy Search (ogr~1): scans vocabulary using dynamic-programming Levenshtein edit distance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Boolean Search: handles whitespace (AND) or uppercase OR unions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rial"/>
              </a:defRPr>
            </a:pPr>
            <a:r>
              <a:t>BM25 Scoring Formula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IDF Calculation: ln(TotalDocs / DocFreq)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Rare terms receive exponentially higher weights than common terms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Term Frequency Saturation (k1 = 1.2): prevents runaway scores on repeated words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Length Normalization (b = 0.75): penalizes long documents unless frequency justifies match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Sorted Descending: candidates scored and ranked by relevance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Arial"/>
              </a:defRPr>
            </a:pPr>
            <a:r>
              <a:t>Segment-Based Persistence (MNSE v1)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LSM-tree inspired immutable segment file format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Binary Segment Layout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Header (40 Bytes): Magic b"MNSE", Version 1, Num Terms, Num Docs, Total Doc Length, Section Offsets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Term Dictionary: Lexicographically sorted terms with postings offsets &amp; lengths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Postings Section: Term frequencies + exact 0-based token positions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Document Store: Stored titles and raw body text for result snippet 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rial"/>
              </a:defRPr>
            </a:pPr>
            <a:r>
              <a:t>LSM Lifecycle &amp; Compaction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Immutable on disk: Once written, segment files are never modified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Fast writes: Append-only disk patterns maximize throughput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Compaction (merge_segments): Merges N small segment files into a single unified segment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Reclaims storage and accelerates query traversal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Arial"/>
              </a:defRPr>
            </a:pPr>
            <a:r>
              <a:t>Phase 6: Memory-Mapped I/O (mmap)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Bypassing userspace copying using operating system page caches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B923C"/>
                </a:solidFill>
                <a:latin typeface="Arial"/>
              </a:defRPr>
            </a:pPr>
            <a:r>
              <a:t>Traditional File I/O vs mmap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Standard read(): Disk -&gt; OS Page Cache -&gt; Userspace Heap Buffer -&gt; Parser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mmap: File mapped directly into process virtual memory space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Zero-Copy: Deserializer reads directly from memory-mapped &amp;[u8] slice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Lazy Paging: OS brings only accessed segments into physical 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rial"/>
              </a:defRPr>
            </a:pPr>
            <a:r>
              <a:t>Criterion Benchmarking Suite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index_1k_docs: Measures raw bulk ingestion throughput (~1K docs in &lt; 25ms)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search_single_term: Microsecond single-token BM25 retrieval (&lt; 10 µs)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search_phrase: Fast positional adjacency validation (&lt; 50 µs)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search_prefix &amp; search_fuzzy: Range expansion &amp; edit distance benchmarks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HTML statistical reports generated via cargo bench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Arial"/>
              </a:defRPr>
            </a:pPr>
            <a:r>
              <a:t>Phase 7: Multi-Index &amp; Concurrency Model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Portfolio-grade production polish and CLI tooling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EngineManager &amp; Index Isolation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Multiple Named Indexes: PUT /indexes/{name} (e.g. books, movies)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Independent Storage: data/indexes/&lt;name&gt;/segments and wal/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No Cross-Contention: Writes to 'books' do not lock or block reads on 'movies'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Short Read Locks: Multiple parallel search queries execute concurrently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B923C"/>
                </a:solidFill>
                <a:latin typeface="Arial"/>
              </a:defRPr>
            </a:pPr>
            <a:r>
              <a:t>CLI &amp; Observability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Command-Line Tool (clap):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  • mini-es serve --port 3000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  • mini-es index --file docs.jsonl --index books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  • mini-es search "ogre bride" --index books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  • mini-es stats &amp; compact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Structured Logging: Tracing subscriber with RUST_LOG filtering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Arial"/>
              </a:defRPr>
            </a:pPr>
            <a:r>
              <a:t>Verification &amp; Test Coverage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129 automated tests across 9 comprehensive test suites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rial"/>
              </a:defRPr>
            </a:pPr>
            <a:r>
              <a:t>100% Passing Test Matrix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analyzer_tests (10 passed): Tokenization, lowercasing, punctuation stripping, Unicode normalization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index_tests (25 passed): Positional postings, prefix range scanning, doc lengths, metadata updates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scorer_tests (13 passed): BM25 saturation, IDF scarcity, document length penalties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engine_tests (38 passed): Phrase search, prefix search, fuzzy search, AND/OR queries, score ranking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fuzzy_tests (13 passed): Levenshtein dynamic-programming algorithm correctness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server_tests (16 passed): Axum HTTP REST integration tests for all query types and stats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storage_tests (5 passed): Binary segment roundtrip, mmap reader, WAL replay/truncate, segment merge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persistence_tests (4 passed): Auto-flush thresholds, crash recovery via WAL, compaction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 multi_index_tests (2 passed): EngineManager isolation and namespaced REST endpoints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